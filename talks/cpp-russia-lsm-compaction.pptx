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Today's topic is LSM compaction — not as a Vinyl-specific subject, but as a general design problem any LSM engine faces. I'll use Cassandra, RocksDB, and Vinyl as concrete examples, and close with a proposal for what the next generation of LSM file formats should look like.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Quick recap. Writes land in an in-memory memtable. When it fills up, it is frozen and flushed to disk as a sorted immutable file — an SSTable in Cassandra, an SST in RocksDB, a run-file in Vinyl. Reads must consult the memtable and every on-disk file, so over time the engine compacts files together: it merges several sorted files into one larger sorted file, collapsing updates and dropping tombstones. Compaction is where almost all of the engineering happens.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STCS is the original Cassandra strategy and the simplest. It keeps a stack of size buckets — when enough files of the same size accumulate, they get merged and the result starts a new, bigger bucket. Write amplification is low because each byte is rewritten only when its tier fills.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STCS earns its place in workloads where writes dominate and reads are rare or batched. Audit logs, event streams, CDC pipelines, archival storage — all want low write amp and tolerate high read amp because reads are uncommon or do scans rather than point lookups.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trouble surfaces at scale. Imagine a Cassandra cluster ingesting metrics — billions of writes per day, keys updated frequently. Each key's versions end up scattered across many tiers. To read one row, the engine merges fragments from every tier — read amp grows unbounded.</a:t>
            </a:r>
          </a:p>
          <a:p/>
          <a:p>
            <a:r>
              <a:rPr sz="1200"/>
              <a:t>The "ran out of disk" outage follows from one root cause: Cassandra SSTables have no size cap. There's no `target_file_size_base` analog like RocksDB's 64 MB default. Under STCS, the bottom tier accumulates SSTables that grow without bound as the dataset ages — a year-old cluster routinely has individual SSTables in the hundreds of GB. Compaction cannot delete input SSTables until the output is fully written (durability), so for the duration of a compaction job both the inputs and the partial output sit on disk together. A major compaction of a 1 TB dataset literally needs 1 TB of free headroom. DataStax's standard rule for STCS deployments is to keep at least 50% disk free — and that 50% figure is downstream of the unbounded SSTable size. LCS doesn't have this problem because compactions touch one bounded-size file per level (headroom ≈ a few hundred MB). Vinyl caps it by range — major compaction of one range needs only 128 MB of headroom regardless of dataset size.</a:t>
            </a:r>
          </a:p>
          <a:p/>
          <a:p>
            <a:r>
              <a:rPr sz="1200"/>
              <a:t>A subtler weakness: STCS classifies files by their actual size, not by a level counter. If four 8 MB files compact down to one 8 MB file (heavy update/delete workload), the result sits in the same 8 MB bucket the inputs came from — no promotion. The tier can cycle indefinitely: flush, hit threshold, compact, end up back at the same size, repeat. Read amp at that tier never improves; the only way out is a major compaction. LCS doesn't have this problem because output goes to L_n+1 by *level number*, not by resulting size.</a:t>
            </a:r>
          </a:p>
          <a:p/>
          <a:p>
            <a:r>
              <a:rPr sz="1200"/>
              <a:t>Q someone in the audience will ask: doesn't size-based placement break read ordering — couldn't an old, shrunken file end up in a "newer" tier than a recent, bigger file, masking a tombstone? Answer: no, because no production engine actually places by size alone. Cassandra tags every cell with a timestamp and resolves conflicts by timestamp, so tier position is irrelevant for correctness. RocksDB Universal and Vinyl maintain a recency-ordered SSTable / run list — size buckets are used only to *select* which files to compact, never to decide where the output sits. LCS uses explicit level numbers. The size-bucket logic is a selection heuristic, not a placement rule.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LCS, originally LevelDB's contribution, fixes the read-amp problem. Within each level, files cover disjoint key ranges — a point lookup consults at most one file per level. Read amplification is bounded by the number of levels, roughly log₁₀(dataset). Space amplification is also tight because each level holds exactly one copy of its key range.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LCS shines on read-heavy OLTP: profiles, sessions, shopping carts, API lookups by primary key. The bounded read amp and tight space amp translate directly into predictable p99 latency, which is what the product SLA usually measures. The cost — write amp — is acceptable because the workload is read-heavy by definition.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cost of bounded read amp is unbounded write amp. To keep levels non-overlapping, every promotion rewrites the touched range at the next level. With the default 10× ratio, one byte at L0 may be rewritten 10× at L1, 10× at L2, and so on. Total write amp is the sum: typically 20–30×. For bulk-ingest workloads — backfilling a year of metrics, loading a CDC stream, ingesting IoT events — write amp is the wall you hit. The SSD wears out, write quota drains, sustained throughput collapses to whatever the bottom level can absorb.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Harvard's DASlab framed it crisply: you cannot minimize all three. STCS optimizes write amp at the cost of read and space. LCS optimizes read and space at the cost of write. Every strategy is a point in this triangle — and the right point depends on the workload, not on a universal answer.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Step back from the file-merging framing. Every write is a point in (time, key) space. The natural clusters that emerge — diagonal stripes from key-order sweeps, dense blobs from hot-key churn, scattered noise from random workloads — are arbitrarily shaped. Files, SSTables, runs, ranges are all axis-aligned rectangles trying to cover those clusters. That's the whole story: every strategy I'll describe next is a different way to choose those rectangles. Plan trimming, per-block metadata, file stitching — all of them are about making the rectangle cover the cluster more tightly.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Cassandra and RocksDB converged on the same idea: parameterize the strategy. UCS gives each level a knob — negative W behaves like tiered, positive like leveled. You can tune it, but tuning assumes you know the workload, that it doesn't change, and that one knob is enough to describe it. In practice these assumptions are wrong, and even a well-tuned UCS leaves performance on the table compared to a strategy that observes the workload at runtime.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Vinyl partitions the keyspace into ranges, each its own mini-LSM with its own shape and compaction decisions. Range size bounds the worst-case compaction cost: a major compaction of one 128 MB range needs only 128 MB of temporary space, no matter how big the dataset. Run-files can be shared across ranges via slices — a slice is a (file, start_page, end_page) tuple. A range split creates new slices, not new files.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Same dataset, two different vocabularies. Vinyl partitions horizontally by key, then stacks levels per partition; RocksDB partitions vertically by level, then divides each level into fixed-size SSTables. The total data volume and steady-state I/O cost are comparable — the engineering difference is which axis you care about first when planning compaction. Vinyl's per-range partitioning gives you cheap independent merges of hot regions; RocksDB's per-level partitioning gives you simpler global reasoning about read amplification.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exact bug that triggered our scheduler rewrite. Time-series data appended in key order; the range grew past its threshold, split, and the lower half — never written to again — looked perfect to the shape-based scheduler. But half of its bytes were dead, copied across during the split. The page index sat in RAM for nothing. Worse, a delete-old scan from the cold end triggered quadratic behavior — each scan re-read all the tombstones the previous scans had created.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fix: don't take the shape at face value. Within a range, find the maximal cluster of run-files that actually share key ranges, compact only that cluster. Non-overlapping runs — common in time-series, append-only, tenant-isolated workloads — get skipped entirely. The change required making the compaction *plan* a first-class object in the scheduler. Once you have a plan, you can have multiple drivers competing to fill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second driver is feedback from reads. The shape-based driver looks at the file layout; the read-amp driver looks at what queries actually pay. When read efficiency drops — too many tombstones, too much dead data after a split — we compact the range even if its shape looks fine. This closes the feedback loop classical LSM schedulers lack. It also gracefully handles workloads the engine has no model for: if reads suffer, compaction kicks 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Modern filesystems splice file fragments by reference. btrfs and XFS expose this as reflink copies; the Linux kernel offers FICLONERANGE and copy_file_range. Two files share the same physical blocks until one of them is modified — then copy-on-write kicks in. For an LSM engine this is enormously tempting: instead of physically rewriting megabytes during a merge, splice existing data pages into the new run-file at near-zero I/O cost.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Plan trimming excludes run-files that don't overlap at all. But within a single overlapping cluster, two files often share keys only on a narrow band. Out-of-order backfills land mostly in new regions, touching a few old ones. Schema migrations rewrite a column across the keyspace, touching every old run on a small subset of pages. Batch corrections rewrite specific transactions. In all of these, plan trimming says "compact these two files" — but 90% of the bytes don't need to move. Stitching is the natural answer: merge the narrow overlap conventionally, reflink the rest.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Here's why naïve stitching doesn't work. A bloom filter is computed once when the file is written, and is a function of the file's exact key set. Stitch two fragments together and the resulting file has a new key set — the old filters are invalid. To rebuild them you must read every key from every fragment, which means reading every page — exactly the I/O cost you were trying to skip. The same holds for the page index, key min/max, and any other per-file metadata. *The file-level granularity of metadata is the obstacle.*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proposal. Today's LSM files are two-level: pages and the file. Page-level metadata is too granular for compaction planning; file-level metadata is too coarse for stitching. Insert a third level between them: a block of 50–100 pages, with its own filter, key range, TTL bounds, MinHash sketch. The block is the smallest unit the scheduler reasons about, and the smallest unit that can be stitched without rebuilding metadata. The block directory stays small enough to live in RAM; the blocks themselves are paged in on demand.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Concretely: multi-tenant SaaS with per-tenant TTL gets free expiration — when every key in a block has expired, drop the block without reading it. MinHash sketches let the scheduler compute Jaccard similarity in O(1) between two blocks; if it's near zero, skip the merge. The fuse8 filter at block granularity survives any stitching, because stitching moves whole blocks. And the catalog of block metadata for a terabyte dataset is tens of megabytes, not hundreds.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RUM triangle is the real constraint. STCS, LCS, UCS each pick a different point in it; arguing about "the best strategy" without stating the workload misses what's actually being chosen.</a:t>
            </a:r>
          </a:p>
          <a:p/>
          <a:p>
            <a:r>
              <a:rPr sz="1200"/>
              <a:t>Compaction reads more naturally as a 2D clustering problem in (time, key) space than as a file-merging chore. Every strategy is a different way to cover natural clusters with axis-aligned rectangles. Tight covers waste less I/O; loose covers waste more.</a:t>
            </a:r>
          </a:p>
          <a:p/>
          <a:p>
            <a:r>
              <a:rPr sz="1200"/>
              <a:t>When the compaction plan becomes a first-class object, the scheduler can carry multiple drivers in parallel — file-shape, observed read amplification, observed space amplification — and reads themselves can tell compaction what to do. The engine adapts to the workload at runtime instead of relying on offline tuning.</a:t>
            </a:r>
          </a:p>
          <a:p/>
          <a:p>
            <a:r>
              <a:rPr sz="1200"/>
              <a:t>The last frontier is metadata granularity. Per-file bloom filters and key indexes are a pre-reflink legacy that defeats stitching — rebuilding them costs the I/O you were trying to save. Per-block metadata fixes that, and cheap stitching, TTL drop and MinHash pruning fall out as side effects.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Pointer slide — not for reading aloud. Dostoevsky formalizes the "leave the last level alone" optimization that Vinyl applies; the RUM Conjecture paper is the source for slide 8. Monkey covers bloom-filter sizing per LSM level, motivation for moving to per-block fuse8 filters. The Cassandra UCS ticket and RocksDB Universal wiki document the parametric strategies discussed in slide 10. The 2018 Vinyl article is the engine background for slides 11–15. PGM-index is here because per-block organization (slide 19) lets the engine choose a lookup structure per block — learned PGM-index for blocks with predictable key distributions, conventional indexes elsewhere.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Questions welcome — on stage, in the hallway, or in the chats above. Everything described is open source. Vinyl ships with Picodata; the new scheduler is in 2.11.8 and Picodata 26.1.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Title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Общий вид LSM-дерева</a:t>
            </a:r>
          </a:p>
        </p:txBody>
      </p:sp>
      <p:pic>
        <p:nvPicPr>
          <p:cNvPr id="3" name="Picture 2" descr="lsm_recap_154b4d3317f1.png"/>
          <p:cNvPicPr>
            <a:picLocks noChangeAspect="1"/>
          </p:cNvPicPr>
          <p:nvPr/>
        </p:nvPicPr>
        <p:blipFill>
          <a:blip r:embed="rId2"/>
          <a:stretch>
            <a:fillRect/>
          </a:stretch>
        </p:blipFill>
        <p:spPr>
          <a:xfrm>
            <a:off x="304792" y="2200558"/>
            <a:ext cx="11582110" cy="327984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Size-Tiered Compaction (STCS)</a:t>
            </a:r>
          </a:p>
        </p:txBody>
      </p:sp>
      <p:pic>
        <p:nvPicPr>
          <p:cNvPr id="3" name="Picture 2" descr="size_tiered_compaction_4d07e34c1e27.png"/>
          <p:cNvPicPr>
            <a:picLocks noChangeAspect="1"/>
          </p:cNvPicPr>
          <p:nvPr/>
        </p:nvPicPr>
        <p:blipFill>
          <a:blip r:embed="rId2"/>
          <a:stretch>
            <a:fillRect/>
          </a:stretch>
        </p:blipFill>
        <p:spPr>
          <a:xfrm>
            <a:off x="1932007" y="1186434"/>
            <a:ext cx="8327680" cy="3387852"/>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Файлы одного размера складываются в уровень</a:t>
            </a:r>
          </a:p>
          <a:p>
            <a:pPr/>
            <a:r>
              <a:rPr sz="2000">
                <a:solidFill>
                  <a:srgbClr val="2B1321"/>
                </a:solidFill>
              </a:rPr>
              <a:t>• При накоплении N (по умолчанию 4) — слияние в один файл</a:t>
            </a:r>
          </a:p>
          <a:p>
            <a:pPr/>
            <a:r>
              <a:rPr sz="2000">
                <a:solidFill>
                  <a:srgbClr val="2B1321"/>
                </a:solidFill>
              </a:rPr>
              <a:t>• Результат становится файлом следующего уровня</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Когда выбирать STCS</a:t>
            </a:r>
          </a:p>
        </p:txBody>
      </p:sp>
      <p:pic>
        <p:nvPicPr>
          <p:cNvPr id="3" name="Picture 2" descr="stcs_workload_shine_02937e28c30e.png"/>
          <p:cNvPicPr>
            <a:picLocks noChangeAspect="1"/>
          </p:cNvPicPr>
          <p:nvPr/>
        </p:nvPicPr>
        <p:blipFill>
          <a:blip r:embed="rId2"/>
          <a:stretch>
            <a:fillRect/>
          </a:stretch>
        </p:blipFill>
        <p:spPr>
          <a:xfrm>
            <a:off x="2289272" y="1186434"/>
            <a:ext cx="7613150" cy="3387852"/>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Поток записи доминирует, чтения редкие</a:t>
            </a:r>
          </a:p>
          <a:p>
            <a:pPr/>
            <a:r>
              <a:rPr sz="2000">
                <a:solidFill>
                  <a:srgbClr val="2B1321"/>
                </a:solidFill>
              </a:rPr>
              <a:t>• Низкий write amp — сливаются только файлы одного размера</a:t>
            </a:r>
          </a:p>
          <a:p>
            <a:pPr/>
            <a:r>
              <a:rPr sz="2000">
                <a:solidFill>
                  <a:srgbClr val="2B1321"/>
                </a:solidFill>
              </a:rPr>
              <a:t>• Минимальный износ SSD</a:t>
            </a:r>
          </a:p>
          <a:p>
            <a:pPr/>
            <a:r>
              <a:rPr sz="2000">
                <a:solidFill>
                  <a:srgbClr val="2B1321"/>
                </a:solidFill>
              </a:rPr>
              <a:t>• Подходит для: audit-логи, event-стримы, CDC-журналы, архивное хранение</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Недостатки STCS</a:t>
            </a:r>
          </a:p>
        </p:txBody>
      </p:sp>
      <p:pic>
        <p:nvPicPr>
          <p:cNvPr id="3" name="Picture 2" descr="stcs_workload_pain_84ad28ce2b78.png"/>
          <p:cNvPicPr>
            <a:picLocks noChangeAspect="1"/>
          </p:cNvPicPr>
          <p:nvPr/>
        </p:nvPicPr>
        <p:blipFill>
          <a:blip r:embed="rId2"/>
          <a:stretch>
            <a:fillRect/>
          </a:stretch>
        </p:blipFill>
        <p:spPr>
          <a:xfrm>
            <a:off x="1567734" y="1186434"/>
            <a:ext cx="9056226" cy="3387852"/>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Версии одного ключа разбросаны по N уровням → read amp растёт</a:t>
            </a:r>
          </a:p>
          <a:p>
            <a:pPr/>
            <a:r>
              <a:rPr sz="2000">
                <a:solidFill>
                  <a:srgbClr val="2B1321"/>
                </a:solidFill>
              </a:rPr>
              <a:t>• Размер SSTable ничем не ограничен (на нижнем уровне — сотни ГБ)</a:t>
            </a:r>
          </a:p>
          <a:p>
            <a:pPr/>
            <a:r>
              <a:rPr sz="2000">
                <a:solidFill>
                  <a:srgbClr val="2B1321"/>
                </a:solidFill>
              </a:rPr>
              <a:t>• Классический инцидент: «Cassandra переполнила диск при compaction»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Leveled Compaction (LCS)</a:t>
            </a:r>
          </a:p>
        </p:txBody>
      </p:sp>
      <p:pic>
        <p:nvPicPr>
          <p:cNvPr id="3" name="Picture 2" descr="leveled_compaction_669ab564e445.png"/>
          <p:cNvPicPr>
            <a:picLocks noChangeAspect="1"/>
          </p:cNvPicPr>
          <p:nvPr/>
        </p:nvPicPr>
        <p:blipFill>
          <a:blip r:embed="rId2"/>
          <a:stretch>
            <a:fillRect/>
          </a:stretch>
        </p:blipFill>
        <p:spPr>
          <a:xfrm>
            <a:off x="787247" y="1186434"/>
            <a:ext cx="10617200" cy="3387852"/>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Файлы организованы по уровням L0, L1, L2, …</a:t>
            </a:r>
          </a:p>
          <a:p>
            <a:pPr/>
            <a:r>
              <a:rPr sz="2000">
                <a:solidFill>
                  <a:srgbClr val="2B1321"/>
                </a:solidFill>
              </a:rPr>
              <a:t>• Каждый следующий уровень ≈ ×10 больше предыдущего</a:t>
            </a:r>
          </a:p>
          <a:p>
            <a:pPr/>
            <a:r>
              <a:rPr sz="2000">
                <a:solidFill>
                  <a:srgbClr val="2B1321"/>
                </a:solidFill>
              </a:rPr>
              <a:t>• Внутри уровня файлы не пересекаются по диапазону ключей</a:t>
            </a:r>
          </a:p>
          <a:p>
            <a:pPr/>
            <a:r>
              <a:rPr sz="2000">
                <a:solidFill>
                  <a:srgbClr val="2B1321"/>
                </a:solidFill>
              </a:rPr>
              <a:t>• Продвижение между уровнями = перезапись затронутого диапазона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Когда выбирать LCS</a:t>
            </a:r>
          </a:p>
        </p:txBody>
      </p:sp>
      <p:pic>
        <p:nvPicPr>
          <p:cNvPr id="3" name="Picture 2" descr="lcs_workload_shine_12c51c598009.png"/>
          <p:cNvPicPr>
            <a:picLocks noChangeAspect="1"/>
          </p:cNvPicPr>
          <p:nvPr/>
        </p:nvPicPr>
        <p:blipFill>
          <a:blip r:embed="rId2"/>
          <a:stretch>
            <a:fillRect/>
          </a:stretch>
        </p:blipFill>
        <p:spPr>
          <a:xfrm>
            <a:off x="2289272" y="1186434"/>
            <a:ext cx="7613150" cy="3387852"/>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OLTP с горячим набором ключей, точечные чтения по PK</a:t>
            </a:r>
          </a:p>
          <a:p>
            <a:pPr/>
            <a:r>
              <a:rPr sz="2000">
                <a:solidFill>
                  <a:srgbClr val="2B1321"/>
                </a:solidFill>
              </a:rPr>
              <a:t>• p99 чтения — продуктовый SLA</a:t>
            </a:r>
          </a:p>
          <a:p>
            <a:pPr/>
            <a:r>
              <a:rPr sz="2000">
                <a:solidFill>
                  <a:srgbClr val="2B1321"/>
                </a:solidFill>
              </a:rPr>
              <a:t>• read amp = O(log₁₀ N), space amp ≈ 1.1×</a:t>
            </a:r>
          </a:p>
          <a:p>
            <a:pPr/>
            <a:r>
              <a:rPr sz="2000">
                <a:solidFill>
                  <a:srgbClr val="2B1321"/>
                </a:solidFill>
              </a:rPr>
              <a:t>• Подходит для: профили, сессии, корзины, справочники, API-поиск по PK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Недостатки LCS</a:t>
            </a:r>
          </a:p>
        </p:txBody>
      </p:sp>
      <p:pic>
        <p:nvPicPr>
          <p:cNvPr id="3" name="Picture 2" descr="lcs_workload_pain_56f85a3b720e.png"/>
          <p:cNvPicPr>
            <a:picLocks noChangeAspect="1"/>
          </p:cNvPicPr>
          <p:nvPr/>
        </p:nvPicPr>
        <p:blipFill>
          <a:blip r:embed="rId2"/>
          <a:stretch>
            <a:fillRect/>
          </a:stretch>
        </p:blipFill>
        <p:spPr>
          <a:xfrm>
            <a:off x="1870635" y="1186434"/>
            <a:ext cx="8450424" cy="3387852"/>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1 байт на L0 → ≈ 30 байт через каскад продвижений</a:t>
            </a:r>
          </a:p>
          <a:p>
            <a:pPr/>
            <a:r>
              <a:rPr sz="2000">
                <a:solidFill>
                  <a:srgbClr val="2B1321"/>
                </a:solidFill>
              </a:rPr>
              <a:t>• Износ SSD упирается в DWPD-потолок</a:t>
            </a:r>
          </a:p>
          <a:p>
            <a:pPr/>
            <a:r>
              <a:rPr sz="2000">
                <a:solidFill>
                  <a:srgbClr val="2B1321"/>
                </a:solidFill>
              </a:rPr>
              <a:t>• Bulk-ingest проседает: backfill, CDC, IoT, потоковая загрузка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Треугольник RUM</a:t>
            </a:r>
          </a:p>
        </p:txBody>
      </p:sp>
      <p:pic>
        <p:nvPicPr>
          <p:cNvPr id="3" name="Picture 2" descr="amplification_triangle_62ad8931190e.png"/>
          <p:cNvPicPr>
            <a:picLocks noChangeAspect="1"/>
          </p:cNvPicPr>
          <p:nvPr/>
        </p:nvPicPr>
        <p:blipFill>
          <a:blip r:embed="rId2"/>
          <a:stretch>
            <a:fillRect/>
          </a:stretch>
        </p:blipFill>
        <p:spPr>
          <a:xfrm>
            <a:off x="3435864" y="1186434"/>
            <a:ext cx="5319967" cy="3387851"/>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Read amp — байт прочитано на байт запрошенных данных</a:t>
            </a:r>
          </a:p>
          <a:p>
            <a:pPr/>
            <a:r>
              <a:rPr sz="2000">
                <a:solidFill>
                  <a:srgbClr val="2B1321"/>
                </a:solidFill>
              </a:rPr>
              <a:t>• Write amp — байт записано на байт сохранённых данных</a:t>
            </a:r>
          </a:p>
          <a:p>
            <a:pPr/>
            <a:r>
              <a:rPr sz="2000">
                <a:solidFill>
                  <a:srgbClr val="2B1321"/>
                </a:solidFill>
              </a:rPr>
              <a:t>• Space amp — байт на диске на байт живых данных</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Compaction как проблема кластеризации</a:t>
            </a:r>
          </a:p>
        </p:txBody>
      </p:sp>
      <p:pic>
        <p:nvPicPr>
          <p:cNvPr id="3" name="Picture 2" descr="compaction_continuum_55e80cd53451.png"/>
          <p:cNvPicPr>
            <a:picLocks noChangeAspect="1"/>
          </p:cNvPicPr>
          <p:nvPr/>
        </p:nvPicPr>
        <p:blipFill>
          <a:blip r:embed="rId2"/>
          <a:stretch>
            <a:fillRect/>
          </a:stretch>
        </p:blipFill>
        <p:spPr>
          <a:xfrm>
            <a:off x="2726374" y="1186434"/>
            <a:ext cx="6738946" cy="3387852"/>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Каждое обновление — точка в координатах (время, ключ)</a:t>
            </a:r>
          </a:p>
          <a:p>
            <a:pPr/>
            <a:r>
              <a:rPr sz="2000">
                <a:solidFill>
                  <a:srgbClr val="2B1321"/>
                </a:solidFill>
              </a:rPr>
              <a:t>• Естественные кластеры имеют произвольную форму: диагональные полосы (key-order sweep), плотные сгустки (горячие ключи OLTP), шум</a:t>
            </a:r>
          </a:p>
          <a:p>
            <a:pPr/>
            <a:r>
              <a:rPr sz="2000">
                <a:solidFill>
                  <a:srgbClr val="2B1321"/>
                </a:solidFill>
              </a:rPr>
              <a:t>• Файл / SSTable / run — это выровненный по осям прямоугольник, ограничивающий кластер</a:t>
            </a:r>
          </a:p>
          <a:p>
            <a:pPr/>
            <a:r>
              <a:rPr sz="2000">
                <a:solidFill>
                  <a:srgbClr val="2B1321"/>
                </a:solidFill>
              </a:rPr>
              <a:t>• Compaction = найти кластер и заменить его на «строку», где каждый ключ представлен один раз</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Universal Compaction: компромисс</a:t>
            </a:r>
          </a:p>
        </p:txBody>
      </p:sp>
      <p:pic>
        <p:nvPicPr>
          <p:cNvPr id="3" name="Picture 2" descr="universal_compaction_bbf75ec18f48.png"/>
          <p:cNvPicPr>
            <a:picLocks noChangeAspect="1"/>
          </p:cNvPicPr>
          <p:nvPr/>
        </p:nvPicPr>
        <p:blipFill>
          <a:blip r:embed="rId2"/>
          <a:stretch>
            <a:fillRect/>
          </a:stretch>
        </p:blipFill>
        <p:spPr>
          <a:xfrm>
            <a:off x="2088711" y="1186434"/>
            <a:ext cx="8014273" cy="3387851"/>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Cassandra UCS (5.0) и RocksDB Universal объединяют STCS и LCS</a:t>
            </a:r>
          </a:p>
          <a:p>
            <a:pPr/>
            <a:r>
              <a:rPr sz="2000">
                <a:solidFill>
                  <a:srgbClr val="2B1321"/>
                </a:solidFill>
              </a:rPr>
              <a:t>• Параметр scaling_parameter (W) задаёт поведение каждого уровня</a:t>
            </a:r>
          </a:p>
          <a:p>
            <a:pPr/>
            <a:r>
              <a:rPr sz="2000">
                <a:solidFill>
                  <a:srgbClr val="2B1321"/>
                </a:solidFill>
              </a:rPr>
              <a:t>• Адаптируется к нагрузке — но остаётся компромиссом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Vinyl: per-range, shape-based</a:t>
            </a:r>
          </a:p>
        </p:txBody>
      </p:sp>
      <p:pic>
        <p:nvPicPr>
          <p:cNvPr id="3" name="Picture 2" descr="slices_and_ranges_8b0e4b518948.png"/>
          <p:cNvPicPr>
            <a:picLocks noChangeAspect="1"/>
          </p:cNvPicPr>
          <p:nvPr/>
        </p:nvPicPr>
        <p:blipFill>
          <a:blip r:embed="rId2"/>
          <a:stretch>
            <a:fillRect/>
          </a:stretch>
        </p:blipFill>
        <p:spPr>
          <a:xfrm>
            <a:off x="4748007" y="1140714"/>
            <a:ext cx="2695681" cy="1650492"/>
          </a:xfrm>
          <a:prstGeom prst="rect">
            <a:avLst/>
          </a:prstGeom>
        </p:spPr>
      </p:pic>
      <p:pic>
        <p:nvPicPr>
          <p:cNvPr id="4" name="Picture 3" descr="shape_based_compaction_6e6ca484d3f3.png"/>
          <p:cNvPicPr>
            <a:picLocks noChangeAspect="1"/>
          </p:cNvPicPr>
          <p:nvPr/>
        </p:nvPicPr>
        <p:blipFill>
          <a:blip r:embed="rId3"/>
          <a:stretch>
            <a:fillRect/>
          </a:stretch>
        </p:blipFill>
        <p:spPr>
          <a:xfrm>
            <a:off x="4046704" y="2969514"/>
            <a:ext cx="4098287" cy="1650491"/>
          </a:xfrm>
          <a:prstGeom prst="rect">
            <a:avLst/>
          </a:prstGeom>
        </p:spPr>
      </p:pic>
      <p:sp>
        <p:nvSpPr>
          <p:cNvPr id="5" name="TextBox 4"/>
          <p:cNvSpPr txBox="1"/>
          <p:nvPr/>
        </p:nvSpPr>
        <p:spPr>
          <a:xfrm>
            <a:off x="365760" y="4754880"/>
            <a:ext cx="11460175" cy="1828800"/>
          </a:xfrm>
          <a:prstGeom prst="rect">
            <a:avLst/>
          </a:prstGeom>
          <a:noFill/>
        </p:spPr>
        <p:txBody>
          <a:bodyPr wrap="square">
            <a:spAutoFit/>
          </a:bodyPr>
          <a:lstStyle/>
          <a:p>
            <a:pPr/>
            <a:r>
              <a:rPr sz="2000">
                <a:solidFill>
                  <a:srgbClr val="2B1321"/>
                </a:solidFill>
              </a:rPr>
              <a:t>• Ключевое пространство разбито на независимые диапазоны (по умолчанию 128 МБ)</a:t>
            </a:r>
          </a:p>
          <a:p>
            <a:pPr/>
            <a:r>
              <a:rPr sz="2000">
                <a:solidFill>
                  <a:srgbClr val="2B1321"/>
                </a:solidFill>
              </a:rPr>
              <a:t>• У каждого диапазона своя «форма» LSM-дерева — пирамида run-файлов</a:t>
            </a:r>
          </a:p>
          <a:p>
            <a:pPr/>
            <a:r>
              <a:rPr sz="2000">
                <a:solidFill>
                  <a:srgbClr val="2B1321"/>
                </a:solidFill>
              </a:rPr>
              <a:t>• Run-файл может быть виден из нескольких диапазонов через slice-ссылки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Один и тот же датасет: Vinyl vs RocksDB</a:t>
            </a:r>
          </a:p>
        </p:txBody>
      </p:sp>
      <p:pic>
        <p:nvPicPr>
          <p:cNvPr id="3" name="Picture 2" descr="vinyl_vs_rocksdb_layout_781e2d8431d2.png"/>
          <p:cNvPicPr>
            <a:picLocks noChangeAspect="1"/>
          </p:cNvPicPr>
          <p:nvPr/>
        </p:nvPicPr>
        <p:blipFill>
          <a:blip r:embed="rId2"/>
          <a:stretch>
            <a:fillRect/>
          </a:stretch>
        </p:blipFill>
        <p:spPr>
          <a:xfrm>
            <a:off x="2320126" y="1186434"/>
            <a:ext cx="7551443" cy="3387851"/>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Vinyl: разбиение по ключу (range), внутри каждого диапазона — пирамида run-файлов</a:t>
            </a:r>
          </a:p>
          <a:p>
            <a:pPr/>
            <a:r>
              <a:rPr sz="2000">
                <a:solidFill>
                  <a:srgbClr val="2B1321"/>
                </a:solidFill>
              </a:rPr>
              <a:t>• RocksDB: разбиение по уровню (LCS), на каждом уровне — набор SSTable фиксированного размера</a:t>
            </a:r>
          </a:p>
          <a:p>
            <a:pPr/>
            <a:r>
              <a:rPr sz="2000">
                <a:solidFill>
                  <a:srgbClr val="2B1321"/>
                </a:solidFill>
              </a:rPr>
              <a:t>• L0 в обоих движках — недавно сброшенные файлы; в Vinyl один run может покрывать несколько диапазонов через slice-ы</a:t>
            </a:r>
          </a:p>
          <a:p>
            <a:pPr/>
            <a:r>
              <a:rPr sz="2000">
                <a:solidFill>
                  <a:srgbClr val="2B1321"/>
                </a:solidFill>
              </a:rPr>
              <a:t>• Объёмы данных совпадают, единицы учёта разные</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Bloat после разделения диапазона</a:t>
            </a:r>
          </a:p>
        </p:txBody>
      </p:sp>
      <p:pic>
        <p:nvPicPr>
          <p:cNvPr id="3" name="Picture 2" descr="timeseries_bloat_083136d0c60e.png"/>
          <p:cNvPicPr>
            <a:picLocks noChangeAspect="1"/>
          </p:cNvPicPr>
          <p:nvPr/>
        </p:nvPicPr>
        <p:blipFill>
          <a:blip r:embed="rId2"/>
          <a:stretch>
            <a:fillRect/>
          </a:stretch>
        </p:blipFill>
        <p:spPr>
          <a:xfrm>
            <a:off x="2707996" y="1186434"/>
            <a:ext cx="6775703" cy="3387851"/>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Append-only вставки, затем split диапазона</a:t>
            </a:r>
          </a:p>
          <a:p>
            <a:pPr/>
            <a:r>
              <a:rPr sz="2000">
                <a:solidFill>
                  <a:srgbClr val="2B1321"/>
                </a:solidFill>
              </a:rPr>
              <a:t>• Нижняя половинка выглядит «идеально» — один большой run-файл</a:t>
            </a:r>
          </a:p>
          <a:p>
            <a:pPr/>
            <a:r>
              <a:rPr sz="2000">
                <a:solidFill>
                  <a:srgbClr val="2B1321"/>
                </a:solidFill>
              </a:rPr>
              <a:t>• Но 50% его данных уже устарели: page-index сидит в RAM зря</a:t>
            </a:r>
          </a:p>
          <a:p>
            <a:pPr/>
            <a:r>
              <a:rPr sz="2000">
                <a:solidFill>
                  <a:srgbClr val="2B1321"/>
                </a:solidFill>
              </a:rPr>
              <a:t>• Удаление старых строк превращается в квадратичный скан</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Усечение плана compaction</a:t>
            </a:r>
          </a:p>
        </p:txBody>
      </p:sp>
      <p:pic>
        <p:nvPicPr>
          <p:cNvPr id="3" name="Picture 2" descr="overlapping_cluster_e3399da16a81.png"/>
          <p:cNvPicPr>
            <a:picLocks noChangeAspect="1"/>
          </p:cNvPicPr>
          <p:nvPr/>
        </p:nvPicPr>
        <p:blipFill>
          <a:blip r:embed="rId2"/>
          <a:stretch>
            <a:fillRect/>
          </a:stretch>
        </p:blipFill>
        <p:spPr>
          <a:xfrm>
            <a:off x="3197996" y="1186434"/>
            <a:ext cx="5795703" cy="3387851"/>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Внутри диапазона ищем максимальный кластер run-файлов с пересекающимися ключами</a:t>
            </a:r>
          </a:p>
          <a:p>
            <a:pPr/>
            <a:r>
              <a:rPr sz="2000">
                <a:solidFill>
                  <a:srgbClr val="2B1321"/>
                </a:solidFill>
              </a:rPr>
              <a:t>• Сливаем только этот кластер</a:t>
            </a:r>
          </a:p>
          <a:p>
            <a:pPr/>
            <a:r>
              <a:rPr sz="2000">
                <a:solidFill>
                  <a:srgbClr val="2B1321"/>
                </a:solidFill>
              </a:rPr>
              <a:t>• Непересекающиеся run-файлы пропускаем — write amp экономится</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Read-amp драйвер</a:t>
            </a:r>
          </a:p>
        </p:txBody>
      </p:sp>
      <p:sp>
        <p:nvSpPr>
          <p:cNvPr id="3" name="TextBox 2"/>
          <p:cNvSpPr txBox="1"/>
          <p:nvPr/>
        </p:nvSpPr>
        <p:spPr>
          <a:xfrm>
            <a:off x="365760" y="1097280"/>
            <a:ext cx="11460175" cy="5486400"/>
          </a:xfrm>
          <a:prstGeom prst="rect">
            <a:avLst/>
          </a:prstGeom>
          <a:noFill/>
        </p:spPr>
        <p:txBody>
          <a:bodyPr wrap="square">
            <a:spAutoFit/>
          </a:bodyPr>
          <a:lstStyle/>
          <a:p>
            <a:pPr/>
            <a:r>
              <a:rPr sz="2000">
                <a:solidFill>
                  <a:srgbClr val="2B1321"/>
                </a:solidFill>
              </a:rPr>
              <a:t>• Считаем mux на чтении: полезные байты ÷ просканированные байты</a:t>
            </a:r>
          </a:p>
          <a:p>
            <a:pPr/>
            <a:r>
              <a:rPr sz="2000">
                <a:solidFill>
                  <a:srgbClr val="2B1321"/>
                </a:solidFill>
              </a:rPr>
              <a:t>• Mux упал ниже порога — планируем compaction для этого диапазона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File stitching: возможности файловых систем</a:t>
            </a:r>
          </a:p>
        </p:txBody>
      </p:sp>
      <p:pic>
        <p:nvPicPr>
          <p:cNvPr id="3" name="Picture 2" descr="file_stitching_3e49dc3638bd.png"/>
          <p:cNvPicPr>
            <a:picLocks noChangeAspect="1"/>
          </p:cNvPicPr>
          <p:nvPr/>
        </p:nvPicPr>
        <p:blipFill>
          <a:blip r:embed="rId2"/>
          <a:stretch>
            <a:fillRect/>
          </a:stretch>
        </p:blipFill>
        <p:spPr>
          <a:xfrm>
            <a:off x="1968896" y="1186434"/>
            <a:ext cx="8253902" cy="3387852"/>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Linux: ioctl FICLONERANGE, syscall copy_file_range</a:t>
            </a:r>
          </a:p>
          <a:p>
            <a:pPr/>
            <a:r>
              <a:rPr sz="2000">
                <a:solidFill>
                  <a:srgbClr val="2B1321"/>
                </a:solidFill>
              </a:rPr>
              <a:t>• ФС с reflink: btrfs, XFS, ZFS, APFS</a:t>
            </a:r>
          </a:p>
          <a:p>
            <a:pPr/>
            <a:r>
              <a:rPr sz="2000">
                <a:solidFill>
                  <a:srgbClr val="2B1321"/>
                </a:solidFill>
              </a:rPr>
              <a:t>• Сращивание фрагмента файла в другой файл без копирования байт</a:t>
            </a:r>
          </a:p>
          <a:p>
            <a:pPr/>
            <a:r>
              <a:rPr sz="2000">
                <a:solidFill>
                  <a:srgbClr val="2B1321"/>
                </a:solidFill>
              </a:rPr>
              <a:t>• Результирующие файлы делят физические экстенты, пока их не перезаписать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Stitching сверх усечения плана</a:t>
            </a:r>
          </a:p>
        </p:txBody>
      </p:sp>
      <p:pic>
        <p:nvPicPr>
          <p:cNvPr id="3" name="Picture 2" descr="stitching_workload_b1730fef6189.png"/>
          <p:cNvPicPr>
            <a:picLocks noChangeAspect="1"/>
          </p:cNvPicPr>
          <p:nvPr/>
        </p:nvPicPr>
        <p:blipFill>
          <a:blip r:embed="rId2"/>
          <a:stretch>
            <a:fillRect/>
          </a:stretch>
        </p:blipFill>
        <p:spPr>
          <a:xfrm>
            <a:off x="1562226" y="1186434"/>
            <a:ext cx="9067243" cy="3387852"/>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Два run-файла в одном кластере пересечений</a:t>
            </a:r>
          </a:p>
          <a:p>
            <a:pPr/>
            <a:r>
              <a:rPr sz="2000">
                <a:solidFill>
                  <a:srgbClr val="2B1321"/>
                </a:solidFill>
              </a:rPr>
              <a:t>• Пересечение — на 10% ключей (например, k–l)</a:t>
            </a:r>
          </a:p>
          <a:p>
            <a:pPr/>
            <a:r>
              <a:rPr sz="2000">
                <a:solidFill>
                  <a:srgbClr val="2B1321"/>
                </a:solidFill>
              </a:rPr>
              <a:t>• Остальные 90% независимы — кандидат на reflink</a:t>
            </a:r>
          </a:p>
          <a:p>
            <a:pPr/>
            <a:r>
              <a:rPr sz="2000">
                <a:solidFill>
                  <a:srgbClr val="2B1321"/>
                </a:solidFill>
              </a:rPr>
              <a:t>• Нагрузки: out-of-order backfill, миграция схемы, пакетные корректировки, запоздавшие CDC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Ловушка bloom-фильтра</a:t>
            </a:r>
          </a:p>
        </p:txBody>
      </p:sp>
      <p:sp>
        <p:nvSpPr>
          <p:cNvPr id="3" name="TextBox 2"/>
          <p:cNvSpPr txBox="1"/>
          <p:nvPr/>
        </p:nvSpPr>
        <p:spPr>
          <a:xfrm>
            <a:off x="365760" y="1097280"/>
            <a:ext cx="11460175" cy="5486400"/>
          </a:xfrm>
          <a:prstGeom prst="rect">
            <a:avLst/>
          </a:prstGeom>
          <a:noFill/>
        </p:spPr>
        <p:txBody>
          <a:bodyPr wrap="square">
            <a:spAutoFit/>
          </a:bodyPr>
          <a:lstStyle/>
          <a:p>
            <a:pPr/>
            <a:r>
              <a:rPr sz="2000">
                <a:solidFill>
                  <a:srgbClr val="2B1321"/>
                </a:solidFill>
              </a:rPr>
              <a:t>• На один SSTable / run-файл приходится один bloom-фильтр, общий для всех его ключей</a:t>
            </a:r>
          </a:p>
          <a:p>
            <a:pPr/>
            <a:r>
              <a:rPr sz="2000">
                <a:solidFill>
                  <a:srgbClr val="2B1321"/>
                </a:solidFill>
              </a:rPr>
              <a:t>• После stitching набор ключей меняется, и фильтр становится непригоден</a:t>
            </a:r>
          </a:p>
          <a:p>
            <a:pPr/>
            <a:r>
              <a:rPr sz="2000">
                <a:solidFill>
                  <a:srgbClr val="2B1321"/>
                </a:solidFill>
              </a:rPr>
              <a:t>• Пересборка фильтра читает все ключи и сводит экономию I/O к нулю</a:t>
            </a:r>
          </a:p>
          <a:p>
            <a:pPr/>
            <a:r>
              <a:rPr sz="2000">
                <a:solidFill>
                  <a:srgbClr val="2B1321"/>
                </a:solidFill>
              </a:rPr>
              <a:t>• Та же проблема с page-index, min/max и MinHash-скетчем</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Трёхуровневая структура: run › block › page</a:t>
            </a:r>
          </a:p>
        </p:txBody>
      </p:sp>
      <p:pic>
        <p:nvPicPr>
          <p:cNvPr id="3" name="Picture 2" descr="three_level_format_0328f217b616.png"/>
          <p:cNvPicPr>
            <a:picLocks noChangeAspect="1"/>
          </p:cNvPicPr>
          <p:nvPr/>
        </p:nvPicPr>
        <p:blipFill>
          <a:blip r:embed="rId2"/>
          <a:stretch>
            <a:fillRect/>
          </a:stretch>
        </p:blipFill>
        <p:spPr>
          <a:xfrm>
            <a:off x="1831961" y="1186434"/>
            <a:ext cx="8527773" cy="3387852"/>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Run-файл — SSTable, принадлежит уровню LSM</a:t>
            </a:r>
          </a:p>
          <a:p>
            <a:pPr/>
            <a:r>
              <a:rPr sz="2000">
                <a:solidFill>
                  <a:srgbClr val="2B1321"/>
                </a:solidFill>
              </a:rPr>
              <a:t>• Блок — 50–100 страниц, новый промежуточный уровень</a:t>
            </a:r>
          </a:p>
          <a:p>
            <a:pPr/>
            <a:r>
              <a:rPr sz="2000">
                <a:solidFill>
                  <a:srgbClr val="2B1321"/>
                </a:solidFill>
              </a:rPr>
              <a:t>• Page — единица I/O (4–8 КБ)</a:t>
            </a:r>
          </a:p>
          <a:p>
            <a:pPr/>
            <a:r>
              <a:rPr sz="2000">
                <a:solidFill>
                  <a:srgbClr val="2B1321"/>
                </a:solidFill>
              </a:rPr>
              <a:t>• У каждого блока свои метаданные: key min/max, ttl min/max, bloom, MinHash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Возможности блочной организации страниц</a:t>
            </a:r>
          </a:p>
        </p:txBody>
      </p:sp>
      <p:pic>
        <p:nvPicPr>
          <p:cNvPr id="3" name="Picture 2" descr="block_workload_4e474c993d38.png"/>
          <p:cNvPicPr>
            <a:picLocks noChangeAspect="1"/>
          </p:cNvPicPr>
          <p:nvPr/>
        </p:nvPicPr>
        <p:blipFill>
          <a:blip r:embed="rId2"/>
          <a:stretch>
            <a:fillRect/>
          </a:stretch>
        </p:blipFill>
        <p:spPr>
          <a:xfrm>
            <a:off x="1884958" y="1186434"/>
            <a:ext cx="8421778" cy="3387852"/>
          </a:xfrm>
          <a:prstGeom prst="rect">
            <a:avLst/>
          </a:prstGeom>
        </p:spPr>
      </p:pic>
      <p:sp>
        <p:nvSpPr>
          <p:cNvPr id="4" name="TextBox 3"/>
          <p:cNvSpPr txBox="1"/>
          <p:nvPr/>
        </p:nvSpPr>
        <p:spPr>
          <a:xfrm>
            <a:off x="365760" y="4754880"/>
            <a:ext cx="11460175" cy="1828800"/>
          </a:xfrm>
          <a:prstGeom prst="rect">
            <a:avLst/>
          </a:prstGeom>
          <a:noFill/>
        </p:spPr>
        <p:txBody>
          <a:bodyPr wrap="square">
            <a:spAutoFit/>
          </a:bodyPr>
          <a:lstStyle/>
          <a:p>
            <a:pPr/>
            <a:r>
              <a:rPr sz="2000">
                <a:solidFill>
                  <a:srgbClr val="2B1321"/>
                </a:solidFill>
              </a:rPr>
              <a:t>• TTL drop — целый блок удаляется по TTL без слияния</a:t>
            </a:r>
          </a:p>
          <a:p>
            <a:pPr/>
            <a:r>
              <a:rPr sz="2000">
                <a:solidFill>
                  <a:srgbClr val="2B1321"/>
                </a:solidFill>
              </a:rPr>
              <a:t>• MinHash skip — планировщик доказывает, что блоки почти не пересекаются, и пропускает слияние</a:t>
            </a:r>
          </a:p>
          <a:p>
            <a:pPr/>
            <a:r>
              <a:rPr sz="2000">
                <a:solidFill>
                  <a:srgbClr val="2B1321"/>
                </a:solidFill>
              </a:rPr>
              <a:t>• Per-block fuse8 — фильтр переживает stitching, пересборка не нужна</a:t>
            </a:r>
          </a:p>
          <a:p>
            <a:pPr/>
            <a:r>
              <a:rPr sz="2000">
                <a:solidFill>
                  <a:srgbClr val="2B1321"/>
                </a:solidFill>
              </a:rPr>
              <a:t>• Меньше RAM — каталог блоков на терабайте занимает десятки МБ</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Итоги</a:t>
            </a:r>
          </a:p>
        </p:txBody>
      </p:sp>
      <p:sp>
        <p:nvSpPr>
          <p:cNvPr id="3" name="TextBox 2"/>
          <p:cNvSpPr txBox="1"/>
          <p:nvPr/>
        </p:nvSpPr>
        <p:spPr>
          <a:xfrm>
            <a:off x="365760" y="1097280"/>
            <a:ext cx="11460175" cy="5486400"/>
          </a:xfrm>
          <a:prstGeom prst="rect">
            <a:avLst/>
          </a:prstGeom>
          <a:noFill/>
        </p:spPr>
        <p:txBody>
          <a:bodyPr wrap="square">
            <a:spAutoFit/>
          </a:bodyPr>
          <a:lstStyle/>
          <a:p>
            <a:pPr/>
            <a:r>
              <a:rPr sz="2000">
                <a:solidFill>
                  <a:srgbClr val="2B1321"/>
                </a:solidFill>
              </a:rPr>
              <a:t>• Любая стратегия compaction балансирует три величины: read amp, write amp, space amp</a:t>
            </a:r>
          </a:p>
          <a:p>
            <a:pPr/>
            <a:r>
              <a:rPr sz="2000">
                <a:solidFill>
                  <a:srgbClr val="2B1321"/>
                </a:solidFill>
              </a:rPr>
              <a:t>• Файл, SSTable, run в пространстве (время, ключ) — выровненный по осям прямоугольник, ограничивающий кластер обновлений</a:t>
            </a:r>
          </a:p>
          <a:p>
            <a:pPr/>
            <a:r>
              <a:rPr sz="2000">
                <a:solidFill>
                  <a:srgbClr val="2B1321"/>
                </a:solidFill>
              </a:rPr>
              <a:t>• Общий план compaction объединяет драйверы shape, read-amp и space-amp</a:t>
            </a:r>
          </a:p>
          <a:p>
            <a:pPr/>
            <a:r>
              <a:rPr sz="2000">
                <a:solidFill>
                  <a:srgbClr val="2B1321"/>
                </a:solidFill>
              </a:rPr>
              <a:t>• Stitching через reflink работает, когда метаданные привязаны к блоку, а не к SSTable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References</a:t>
            </a:r>
          </a:p>
        </p:txBody>
      </p:sp>
      <p:sp>
        <p:nvSpPr>
          <p:cNvPr id="3" name="TextBox 2"/>
          <p:cNvSpPr txBox="1"/>
          <p:nvPr/>
        </p:nvSpPr>
        <p:spPr>
          <a:xfrm>
            <a:off x="365760" y="1097280"/>
            <a:ext cx="11460175" cy="5486400"/>
          </a:xfrm>
          <a:prstGeom prst="rect">
            <a:avLst/>
          </a:prstGeom>
          <a:noFill/>
        </p:spPr>
        <p:txBody>
          <a:bodyPr wrap="square">
            <a:spAutoFit/>
          </a:bodyPr>
          <a:lstStyle/>
          <a:p>
            <a:r>
              <a:rPr sz="2200" b="1">
                <a:solidFill>
                  <a:srgbClr val="2B1321"/>
                </a:solidFill>
              </a:rPr>
              <a:t>Теория и trade-offs</a:t>
            </a:r>
          </a:p>
          <a:p>
            <a:pPr/>
            <a:r>
              <a:rPr sz="2000">
                <a:solidFill>
                  <a:srgbClr val="2B1321"/>
                </a:solidFill>
              </a:rPr>
              <a:t>• M. Athanassoulis et al., "Designing Access Methods: The RUM Conjecture", EDBT 2016 — daslab.seas.harvard.edu/rum-conjecture</a:t>
            </a:r>
          </a:p>
          <a:p>
            <a:pPr/>
            <a:r>
              <a:rPr sz="2000">
                <a:solidFill>
                  <a:srgbClr val="2B1321"/>
                </a:solidFill>
              </a:rPr>
              <a:t>• N. Dayan, S. Idreos, "Dostoevsky: Better Space-Time Trade-Offs for LSM-Tree Based KV-Stores via Adaptive Removal of Superfluous Merging", SIGMOD 2018 — dl.acm.org/doi/10.1145/3183713.3196927</a:t>
            </a:r>
          </a:p>
          <a:p>
            <a:pPr/>
            <a:r>
              <a:rPr sz="2000">
                <a:solidFill>
                  <a:srgbClr val="2B1321"/>
                </a:solidFill>
              </a:rPr>
              <a:t>• N. Dayan, M. Athanassoulis, S. Idreos, "Monkey: Optimal Navigable Key-Value Store", SIGMOD 2017 — stratos.seas.harvard.edu/publications/monkey-optimal-navigable-key-value-store</a:t>
            </a:r>
          </a:p>
          <a:p>
            <a:r>
              <a:rPr sz="2200" b="1">
                <a:solidFill>
                  <a:srgbClr val="2B1321"/>
                </a:solidFill>
              </a:rPr>
              <a:t>Движки</a:t>
            </a:r>
          </a:p>
          <a:p>
            <a:pPr/>
            <a:r>
              <a:rPr sz="2000">
                <a:solidFill>
                  <a:srgbClr val="2B1321"/>
                </a:solidFill>
              </a:rPr>
              <a:t>• Cassandra Unified Compaction Strategy: CASSANDRA-18397</a:t>
            </a:r>
          </a:p>
          <a:p>
            <a:pPr/>
            <a:r>
              <a:rPr sz="2000">
                <a:solidFill>
                  <a:srgbClr val="2B1321"/>
                </a:solidFill>
              </a:rPr>
              <a:t>• RocksDB Universal Compaction: github.com/facebook/rocksdb/wiki/Universal-Compaction</a:t>
            </a:r>
          </a:p>
          <a:p>
            <a:pPr/>
            <a:r>
              <a:rPr sz="2000">
                <a:solidFill>
                  <a:srgbClr val="2B1321"/>
                </a:solidFill>
              </a:rPr>
              <a:t>• Архитектура Vinyl (2018): habr.com/companies/vk/articles/358210</a:t>
            </a:r>
          </a:p>
          <a:p>
            <a:r>
              <a:rPr sz="2200" b="1">
                <a:solidFill>
                  <a:srgbClr val="2B1321"/>
                </a:solidFill>
              </a:rPr>
              <a:t>Indexes, filters &amp; sketches</a:t>
            </a:r>
          </a:p>
          <a:p>
            <a:pPr/>
            <a:r>
              <a:rPr sz="2000">
                <a:solidFill>
                  <a:srgbClr val="2B1321"/>
                </a:solidFill>
              </a:rPr>
              <a:t>• T. Graf, D. Lemire, "Binary Fuse Filters: Fast and Smaller Than Xor Filters", 2022 — arxiv.org/abs/2201.01174</a:t>
            </a:r>
          </a:p>
          <a:p>
            <a:pPr/>
            <a:r>
              <a:rPr sz="2000">
                <a:solidFill>
                  <a:srgbClr val="2B1321"/>
                </a:solidFill>
              </a:rPr>
              <a:t>• P. Ferragina, G. Vinciguerra, "The PGM-index: a fully-dynamic compressed learned index with provable worst-case bounds", VLDB 2020 — arxiv.org/abs/1910.06169</a:t>
            </a:r>
          </a:p>
          <a:p>
            <a:pPr/>
            <a:r>
              <a:rPr sz="2000">
                <a:solidFill>
                  <a:srgbClr val="2B1321"/>
                </a:solidFill>
              </a:rPr>
              <a:t>• A. Broder, "On the resemblance and containment of documents", 1997 — MinHash оригинал</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11460175" cy="640080"/>
          </a:xfrm>
          <a:prstGeom prst="rect">
            <a:avLst/>
          </a:prstGeom>
          <a:noFill/>
        </p:spPr>
        <p:txBody>
          <a:bodyPr wrap="square">
            <a:spAutoFit/>
          </a:bodyPr>
          <a:lstStyle/>
          <a:p>
            <a:pPr algn="l"/>
            <a:r>
              <a:rPr sz="3000" b="1">
                <a:solidFill>
                  <a:srgbClr val="2B1321"/>
                </a:solidFill>
              </a:rPr>
              <a:t>Спасибо</a:t>
            </a:r>
          </a:p>
        </p:txBody>
      </p:sp>
      <p:sp>
        <p:nvSpPr>
          <p:cNvPr id="3" name="TextBox 2"/>
          <p:cNvSpPr txBox="1"/>
          <p:nvPr/>
        </p:nvSpPr>
        <p:spPr>
          <a:xfrm>
            <a:off x="365760" y="1097280"/>
            <a:ext cx="11460175" cy="5486400"/>
          </a:xfrm>
          <a:prstGeom prst="rect">
            <a:avLst/>
          </a:prstGeom>
          <a:noFill/>
        </p:spPr>
        <p:txBody>
          <a:bodyPr wrap="square">
            <a:spAutoFit/>
          </a:bodyPr>
          <a:lstStyle/>
          <a:p>
            <a:pPr/>
            <a:r>
              <a:rPr sz="2000">
                <a:solidFill>
                  <a:srgbClr val="2B1321"/>
                </a:solidFill>
              </a:rPr>
              <a:t>• Блог: kostja.github.io</a:t>
            </a:r>
          </a:p>
          <a:p>
            <a:pPr/>
            <a:r>
              <a:rPr sz="2000">
                <a:solidFill>
                  <a:srgbClr val="2B1321"/>
                </a:solidFill>
              </a:rPr>
              <a:t>• Telegram: @rabid_transit</a:t>
            </a:r>
          </a:p>
          <a:p>
            <a:pPr/>
            <a:r>
              <a:rPr sz="2000">
                <a:solidFill>
                  <a:srgbClr val="2B1321"/>
                </a:solidFill>
              </a:rPr>
              <a:t>• Профильные чаты: @picodataru, @tarantoolru, @databaseinternalschat</a:t>
            </a:r>
          </a:p>
          <a:p>
            <a:pPr/>
            <a:r>
              <a:rPr sz="2000">
                <a:solidFill>
                  <a:srgbClr val="2B1321"/>
                </a:solidFill>
              </a:rPr>
              <a:t>• Подробнее: Как мы пересобрали сборку мусора в Vinyl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